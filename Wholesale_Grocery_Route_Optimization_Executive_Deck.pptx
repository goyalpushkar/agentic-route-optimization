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6B6D4"/>
                </a:solidFill>
              </a:defRPr>
            </a:pPr>
            <a:r>
              <a:t>AI-POWERED WHOLESALE GROCERY LOGISTICS &amp; ROUTE OPTIMIZATION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Autonomous Multi-Temperature Routing &amp;</a:t>
            </a:r>
            <a:br/>
            <a:r>
              <a:t>Live Dynamic Carrier Booking Engine</a:t>
            </a:r>
          </a:p>
          <a:p>
            <a:pPr>
              <a:spcAft>
                <a:spcPts val="3600"/>
              </a:spcAft>
              <a:defRPr sz="1400">
                <a:solidFill>
                  <a:srgbClr val="94A3B8"/>
                </a:solidFill>
              </a:defRPr>
            </a:pPr>
            <a:r>
              <a:t>An end-to-end multi-agent platform on Google Cloud optimizing trailer cube utilization (46W-53W),</a:t>
            </a:r>
            <a:br/>
            <a:r>
              <a:t>flexible multi-temp bulkheads, soft ±1hr time windows, and parallel automated carrier procurement.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Executive Pitch &amp; Architectural Approval Proposal | Evaluation &amp; Funding Request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1. INDUSTRY RELEVANCE &amp;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Transforming Grocery Delivery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The Grocery Logistics Friction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Multi-Temp Silos: </a:t>
            </a:r>
            <a:r>
              <a:rPr b="0" sz="1100">
                <a:solidFill>
                  <a:srgbClr val="64748B"/>
                </a:solidFill>
              </a:rPr>
              <a:t>Frozen, Chill, Ambient, and HMBC orders often dispatched on separate dedicated trucks, causing redundant miles.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Sub-Optimal Cube Fill: </a:t>
            </a:r>
            <a:r>
              <a:rPr b="0" sz="1100">
                <a:solidFill>
                  <a:srgbClr val="64748B"/>
                </a:solidFill>
              </a:rPr>
              <a:t>Manual route planning averages only 74-78% trailer cube utilization across 46W, 48W, and 53W fleets.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Time Window Penalties: </a:t>
            </a:r>
            <a:r>
              <a:rPr b="0" sz="1100">
                <a:solidFill>
                  <a:srgbClr val="64748B"/>
                </a:solidFill>
              </a:rPr>
              <a:t>Strict retail delivery schedules lead to expensive late-dock correction penalties when windows are missed.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Wave Lockouts: </a:t>
            </a:r>
            <a:r>
              <a:rPr b="0" sz="1100">
                <a:solidFill>
                  <a:srgbClr val="64748B"/>
                </a:solidFill>
              </a:rPr>
              <a:t>Goods picked in WMS before carrier capacity is locked, clogging staging docks and risking perishables.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37160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Autonomous AI Solution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Flexible Bulkhead Packing: </a:t>
            </a:r>
            <a:r>
              <a:rPr b="0" sz="1100">
                <a:solidFill>
                  <a:srgbClr val="64748B"/>
                </a:solidFill>
              </a:rPr>
              <a:t>Solves Multi-Compartment VRP with dynamically positioned bulkheads (2-pallet increments) per route.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Soft-Window Tolerance: </a:t>
            </a:r>
            <a:r>
              <a:rPr b="0" sz="1100">
                <a:solidFill>
                  <a:srgbClr val="64748B"/>
                </a:solidFill>
              </a:rPr>
              <a:t>Optimizes routes with ±1 hr window flexibility and 30-min standard dock service dwell times.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Parallel Rate Discovery: </a:t>
            </a:r>
            <a:r>
              <a:rPr b="0" sz="1100">
                <a:solidFill>
                  <a:srgbClr val="64748B"/>
                </a:solidFill>
              </a:rPr>
              <a:t>Sub-3s broadcast to freight exchanges &amp; contracted carriers to secure the cheapest compliant reefer.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WMS Wave Sync: </a:t>
            </a:r>
            <a:r>
              <a:rPr b="0" sz="1100">
                <a:solidFill>
                  <a:srgbClr val="64748B"/>
                </a:solidFill>
              </a:rPr>
              <a:t>Locks carrier booking and pickup capacity BEFORE warehouse picking waves are released.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371600"/>
            <a:ext cx="3328416" cy="4846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55448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Targeted Business Value</a:t>
            </a:r>
          </a:p>
          <a:p>
            <a:pPr>
              <a:defRPr b="1" sz="2000">
                <a:solidFill>
                  <a:srgbClr val="10B981"/>
                </a:solidFill>
              </a:defRPr>
            </a:pPr>
            <a:r>
              <a:t>92%+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Trailer Cube Utilization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Up from ~76% baseline via intelligent multi-temp consolidation.</a:t>
            </a:r>
          </a:p>
          <a:p>
            <a:pPr>
              <a:defRPr b="1" sz="2000">
                <a:solidFill>
                  <a:srgbClr val="10B981"/>
                </a:solidFill>
              </a:defRPr>
            </a:pPr>
            <a:r>
              <a:t>14-18%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Fleet Mileage &amp; Fuel Reduction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Optimized stop sequencing and single-drop consolidation.</a:t>
            </a:r>
          </a:p>
          <a:p>
            <a:pPr>
              <a:defRPr b="1" sz="2000">
                <a:solidFill>
                  <a:srgbClr val="10B981"/>
                </a:solidFill>
              </a:defRPr>
            </a:pPr>
            <a:r>
              <a:t>98.5%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OTIF Delivery Compliance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Eliminates dock penalty fees through soft-window mathematical optimization.</a:t>
            </a:r>
          </a:p>
          <a:p>
            <a:pPr>
              <a:defRPr b="1" sz="2000">
                <a:solidFill>
                  <a:srgbClr val="10B981"/>
                </a:solidFill>
              </a:defRPr>
            </a:pPr>
            <a:r>
              <a:t>$1.8M+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Projected Net Annual Savings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Across fleet operations, fuel, spot freight procurement, and reduced perishable write-offs.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1. INDUSTRY RELEVANCE &amp; LOGISTICS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Grocery Domain Depth: Heterogeneous Fleets &amp; Cold-Chain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6B6D4"/>
                </a:solidFill>
              </a:defRPr>
            </a:pPr>
            <a:r>
              <a:t>FLEXIBLE BULKHEADS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Multi-Temp Reefers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46W, 48W, 52W, 53W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Insulated movable bulkheads adjusted in 2-pallet increments. Allows Frozen (-10°F), Chill (36°F), and Dry Grocery in one single drop.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6B6D4"/>
                </a:solidFill>
              </a:defRPr>
            </a:pPr>
            <a:r>
              <a:t>SINGLE-TEMP FLEET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Dedicated Reefers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100% Frozen / 100% Dry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Used for dedicated large store replenishments. Integrated with multi-temp solver to avoid splitting unless volume exceeds trailer capacity.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6B6D4"/>
                </a:solidFill>
              </a:defRPr>
            </a:pPr>
            <a:r>
              <a:t>PHYSICAL CONSTRAINTS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Customer Dock Rules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Length &amp; Liftgate Limits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Downtown retail locations restricted to 46W/48W; elevated docks vs liftgate/electric pallet jack requirements mapped to vehicle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6B6D4"/>
                </a:solidFill>
              </a:defRPr>
            </a:pPr>
            <a:r>
              <a:t>VOLUME &amp; CATCH-WEIGHT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4D Order Dimensions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Cube, Pallet, Case, Lbs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Handles full SKU physical profiles including gross catch-weight for meats/produce to ensure legal axle weight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3. AI TOOLS &amp; AGENTIC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6-Agent Autonomous Architecture: From Sourcing to Booking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Agent 1: DC Sourcing &amp; Demand Profiler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Normalizes 4D demand vectors (Pallets, Cube, Cases, Catch-Weight) across Frozen, Chill, Ambient, HMBC. Selects optimal origin DC.</a:t>
            </a: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Tech: Vertex AI + BigQuery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0876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Agent 2: Cold-Chain Fleet Allocator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Validates trailer sizes (46W, 48W, 53W), bulkhead increments, driver HOS limits, and customer dock constraints.</a:t>
            </a: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Tech: Fleet Master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50876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Agent 3: Cold-Chain Route Optimizer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Formulates Multi-Compartment VRP with Soft Time Windows (±1hr). Enforces priority: OTIF &gt; Overtime &gt; Miles &gt; Fleet count.</a:t>
            </a: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Tech: Cloud Optimization API / OR-Tools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7764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Agent 4: Live Carrier Rate Aggregator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Broadcasts parallel asynchronous RFQs across carrier APIs and EDI 204 freight exchanges in &lt;3 seconds.</a:t>
            </a: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Tech: Cloud Pub/Sub + Cloud Functions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4048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97764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Agent 5: Carrier Scoring &amp; Booking Agent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Evaluates live bids using 40/30/20/10 multi-criteria matrix; locks booking confirmation BEFORE WMS wave picking starts.</a:t>
            </a: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Tech: BigQuery Scorecard + EDI 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84048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97764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Agent 6: Dynamic Cold-Chain Monitor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Continuously tracks in-transit IoT reefer temperatures and GPS dwell times against 30-min baseline to trigger recovery.</a:t>
            </a:r>
          </a:p>
          <a:p>
            <a:pPr>
              <a:defRPr sz="950" b="1">
                <a:solidFill>
                  <a:srgbClr val="06B6D4"/>
                </a:solidFill>
              </a:defRPr>
            </a:pPr>
            <a:r>
              <a:t>Tech: IoT Telematics + Google Maps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2. DEVELOPMENT METHODOLOGY &amp; CORE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Mathematical Optimization: Multi-Compartment VRP with Time Windows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Hierarchical Objective Formulation</a:t>
            </a:r>
          </a:p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</a:defRPr>
            </a:pPr>
            <a:r>
              <a:t>Min Z = w1·Cost(OTIF) + w2·Cost(Overtime) + w3·Cost(Miles) + w4·Cost(Fleet)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Strict Priority Hierarchy: </a:t>
            </a:r>
            <a:r>
              <a:rPr b="0" sz="1050">
                <a:solidFill>
                  <a:srgbClr val="64748B"/>
                </a:solidFill>
              </a:rPr>
              <a:t>w1 &gt;&gt; w2 &gt;&gt; w3 &gt;&gt; w4 (OTIF compliance is prioritized first, then driver overtime prevention, then fuel/mileage, then asset activation).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Flexible Bulkhead Partitioning: </a:t>
            </a:r>
            <a:r>
              <a:rPr b="0" sz="1050">
                <a:solidFill>
                  <a:srgbClr val="64748B"/>
                </a:solidFill>
              </a:rPr>
              <a:t>For each multi-temp trailer: ∑ Pallets(Frozen + Chill + Dry) ≤ Capacity, with bulkheads dynamically constrained to 2-pallet increments.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Soft Time Windows (±1 hr): </a:t>
            </a:r>
            <a:r>
              <a:rPr b="0" sz="1050">
                <a:solidFill>
                  <a:srgbClr val="64748B"/>
                </a:solidFill>
              </a:rPr>
              <a:t>Delivery windows [Ei, Li] penalized with graduated linear slopes outside the 1-hour buffer; standard 30 min service time per stop.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LIFO Unloading Constraint: </a:t>
            </a:r>
            <a:r>
              <a:rPr b="0" sz="1050">
                <a:solidFill>
                  <a:srgbClr val="64748B"/>
                </a:solidFill>
              </a:rPr>
              <a:t>Enforces reverse-stop loading order so pallets for later stops never block early-stop unloading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Dual Operational Engine Modes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Mode A: Operational Daily Dispatch Optimizer: </a:t>
            </a:r>
            <a:r>
              <a:rPr b="0" sz="1050">
                <a:solidFill>
                  <a:srgbClr val="64748B"/>
                </a:solidFill>
              </a:rPr>
              <a:t>Runs nightly on firm customer orders. Generates exact turn-by-turn routes, bulkhead divider positions, driver manifests, and triggers live carrier tenders.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Mode B: Tactical 2-Month Capacity Simulator: </a:t>
            </a:r>
            <a:r>
              <a:rPr b="0" sz="1050">
                <a:solidFill>
                  <a:srgbClr val="64748B"/>
                </a:solidFill>
              </a:rPr>
              <a:t>Runs Monte Carlo simulations over 2-month probabilistic demand forecasts to predict weekly trailer requirements (46W vs 53W) and identify peak bottlenecks weeks in advance.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Historical 3-Month Backtesting Engine: </a:t>
            </a:r>
            <a:r>
              <a:rPr b="0" sz="1050">
                <a:solidFill>
                  <a:srgbClr val="64748B"/>
                </a:solidFill>
              </a:rPr>
              <a:t>Re-runs historical actual order streams to compare AI routes against human manual dispatch, benchmarking miles saved, fuel reductions, and cube utilization gains.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2. METHODOLOGY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Automated Carrier Sourcing &amp; Multi-Criteria Decision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6B6D4"/>
                </a:solidFill>
              </a:defRPr>
            </a:pPr>
            <a:r>
              <a:t>40%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Live Freight Rate</a:t>
            </a:r>
          </a:p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</a:defRPr>
            </a:pPr>
            <a:r>
              <a:t>Cost Competitiveness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Scores live spot and contracted rates in parallel against current lane benchmarks. Prevents overpaying on stale contracted rate cards.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5087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6B6D4"/>
                </a:solidFill>
              </a:defRPr>
            </a:pPr>
            <a:r>
              <a:t>30%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Historical Reliability</a:t>
            </a:r>
          </a:p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</a:defRPr>
            </a:pPr>
            <a:r>
              <a:t>On-Time Pickup &amp; Acceptance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Calculated from BigQuery trailing 3-month carrier performance: 60% On-Time Pickup Rate + 40% Tender Acceptance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6B6D4"/>
                </a:solidFill>
              </a:defRPr>
            </a:pPr>
            <a:r>
              <a:t>20%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Cold-Chain SLA Fit</a:t>
            </a:r>
          </a:p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</a:defRPr>
            </a:pPr>
            <a:r>
              <a:t>Reefer &amp; Equipment Spec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Evaluates FSMA certification, continuous IoT temperature logging capabilities, pre-cooling compliance, and reefer unit age (&lt;5 yrs).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087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6B6D4"/>
                </a:solidFill>
              </a:defRPr>
            </a:pPr>
            <a:r>
              <a:t>10%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Preferred Status</a:t>
            </a:r>
          </a:p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</a:defRPr>
            </a:pPr>
            <a:r>
              <a:t>Strategic Partnership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Prioritizes dedicated strategic fleet partners (Tier-1 = 100pts, Tier-2 = 60pts, Spot Broker = 0pts) to maintain carrier relationships.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698480" cy="1737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Capacity Lockout Prevention: Synchronized WMS Wave Release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The system enforces a strict time-locked gateway: Carrier booking is confirmed via EDI 990 / API FIRST. Only when carrier capacity is 100% locked does the system signal the WMS to release picking waves. This completely eliminates warehouse staging congestion, wasted picker labor, and perishable spoilage caused by dropped carrier tenders.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4. PRESENTATION &amp; INTERACTIVE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Human-in-the-Loop (HITL) Dispatcher Cockpit &amp; Visual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Interactive Map &amp; Stop Drag-and-Drop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</a:defRPr>
            </a:pPr>
            <a:r>
              <a:t>Interactive Google Maps view color-coded by trailer type (46W/48W/53W) with temp icons.</a:t>
            </a:r>
            <a:br/>
            <a:r>
              <a:t>• Dispatchers drag &amp; drop stops between routes.</a:t>
            </a:r>
            <a:br/>
            <a:r>
              <a:t>• In-memory Redis cache recalculates arrival ETAs, time windows, and cost deltas in &lt;300ms.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Stack: Mapbox / Deck.gl + Redis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37160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55448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2D/3D Trailer Bulkhead Visualizer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</a:defRPr>
            </a:pPr>
            <a:r>
              <a:t>Top-down cross section of 22 to 30 pallet floor positions.</a:t>
            </a:r>
            <a:br/>
            <a:r>
              <a:t>• Interactive bulkhead slider shifts temperature zones in 2-pallet increments.</a:t>
            </a:r>
            <a:br/>
            <a:r>
              <a:t>• Real-time LIFO check warns if early-stop pallets are trapped behind late-stop loads.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Stack: React + Tailwind Canvas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37160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55448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Two-Stage Approval Gates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</a:defRPr>
            </a:pPr>
            <a:r>
              <a:t>Gate 1: Route Review &amp; Manual Edit (One-click route approval unlocks carrier RFQ).</a:t>
            </a:r>
            <a:br/>
            <a:r>
              <a:t>Gate 2: Carrier Tender Review (Dispatcher confirms top 40/30/20/10 AI carrier or overrides before WMS release).</a:t>
            </a: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Stack: FastAPI + WebSockets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3. AI TOOLS &amp;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GCP Cloud-Native Architecture: Scalable, Secure &amp; Serverless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486400"/>
              </a:tblGrid>
              <a:tr h="69233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GCP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Architectural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Logistics Capability &amp; Purpose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Vertex AI (Gemini 2.5)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Agent Reasoning &amp; NL Briefings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Powers Agent decision explanations, exception handling, and dispatcher copilot dialogues.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Cloud Optimization API / OR-Tools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Mathematical Solver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High-performance solver computing Multi-Compartment VRP with flexible bulkheads &amp; soft windows.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BigQuery Lakehouse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Historical &amp; Forecast Data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Stores 3mo historical actuals, 2mo probabilistic demand models, and carrier scorecards (OTP/OTD).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Cloud Run &amp; LangGraph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Microservices &amp; Agent Runtime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Hosts the scalable agent state machine, FastAPI backend, and Next.js dispatcher UI.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Cloud Pub/Sub &amp; Cloud Functions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Parallel Rate 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Broadcasts parallel quote requests to dozens of carrier APIs asynchronously in &lt;3 seconds.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Cloud Firestore &amp; Redis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Low-Latency Live State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t>Sub-second state machine for live drag-and-drop route recalculations and collaborative editing.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2. DEVELOPMENT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Methodology: Agile TDD &amp; Rigorous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Phase 1: Foundation &amp; Solver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</a:defRPr>
            </a:pPr>
            <a:r>
              <a:t>Weeks 1 - 4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BigQuery historical &amp; forecast schemas.</a:t>
            </a:r>
            <a:br/>
            <a:r>
              <a:t>• C++/Python OR-Tools MC-VRPTW solver with 2-pallet bulkhead logic.</a:t>
            </a:r>
            <a:br/>
            <a:r>
              <a:t>• Automated unit &amp; integration tests on synthetic grocery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Phase 2: Agent Ecosystem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</a:defRPr>
            </a:pPr>
            <a:r>
              <a:t>Weeks 5 - 8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LangGraph 6-agent orchestrator on Cloud Run.</a:t>
            </a:r>
            <a:br/>
            <a:r>
              <a:t>• Pub/Sub parallel carrier rate aggregator.</a:t>
            </a:r>
            <a:br/>
            <a:r>
              <a:t>• 40/30/20/10 carrier scoring engine integration with EDI 204 gateways.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Phase 3: Dispatcher UI &amp; HITL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</a:defRPr>
            </a:pPr>
            <a:r>
              <a:t>Weeks 9 - 12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Next.js interactive route map with drag-and-drop stop editing.</a:t>
            </a:r>
            <a:br/>
            <a:r>
              <a:t>• 2D/3D trailer bulkhead visualizer with LIFO unloading validation.</a:t>
            </a:r>
            <a:br/>
            <a:r>
              <a:t>• Two-stage approval state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Phase 4: Pilot &amp; Backtesting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</a:defRPr>
            </a:pPr>
            <a:r>
              <a:t>Weeks 13 - 16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Backtesting on past 3 months of actual order runs.</a:t>
            </a:r>
            <a:br/>
            <a:r>
              <a:t>• Shadow runs alongside human dispatchers.</a:t>
            </a:r>
            <a:br/>
            <a:r>
              <a:t>• Live pilot across 2 regional Distribution Centers.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4. PRESENTATION QUALITY &amp; INVESTMENT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Quantified Business ROI &amp; Investment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0B981"/>
                </a:solidFill>
              </a:defRPr>
            </a:pPr>
            <a:r>
              <a:t>$1.8M - $2.4M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Annual Net Cost Savings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Fleet, fuel, and carrier rate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630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0B981"/>
                </a:solidFill>
              </a:defRPr>
            </a:pPr>
            <a:r>
              <a:t>16.2%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Mileage &amp; Fuel Reduction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Consolidated single-drop multi-temp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0B981"/>
                </a:solidFill>
              </a:defRPr>
            </a:pPr>
            <a:r>
              <a:t>14.5%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Trailer Fill Rate Increase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Average cube utilization up from 76% to 91%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0B981"/>
                </a:solidFill>
              </a:defRPr>
            </a:pPr>
            <a:r>
              <a:t>&lt; 5 Months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Payback Period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Rapid time-to-value on existing GCP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2120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Legacy Manual Process (Before)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❌  Siloed dispatchers plan Dry and Frozen routes independently.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❌  Static contracted carrier rates used without checking live spot savings.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❌  Frequent dock congestion and dropped tenders after picking has already started.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❌  Late arrival correction penalties on tight retail grocery delivery windows.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4290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AI Autonomous Engine (After)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✅  Single-drop multi-temp consolidation with dynamic 2-pallet bulkhead splits.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✅  Parallel rate discovery scores live carriers (40/30/20/10) in &lt;3 seconds.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✅  Guaranteed carrier capacity locked BEFORE WMS picking waves commence.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✅  Interactive dispatcher UI with real-time drag-and-drop constraint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4. EXECUTIVE DECISION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Roadmap, Live MVP Demonstration &amp; Approval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Implementation Milestones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Sprint 1-2: Interactive MVP Sandbox: </a:t>
            </a:r>
            <a:r>
              <a:rPr b="0" sz="1000">
                <a:solidFill>
                  <a:srgbClr val="64748B"/>
                </a:solidFill>
              </a:rPr>
              <a:t>Build the live working demonstrator showcasing route mapping, 2D trailer bulkhead adjustment, and carrier 40/30/20/10 scoring on real sample data.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Sprint 3-4: 3-Month Historical Backtesting: </a:t>
            </a:r>
            <a:r>
              <a:rPr b="0" sz="1000">
                <a:solidFill>
                  <a:srgbClr val="64748B"/>
                </a:solidFill>
              </a:rPr>
              <a:t>Ingest the 3-month historical dataset into BigQuery to prove empirical cost and mileage savings over legacy dispatch logs.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Sprint 5-6: 2-Month Forward Capacity Simulator: </a:t>
            </a:r>
            <a:r>
              <a:rPr b="0" sz="1000">
                <a:solidFill>
                  <a:srgbClr val="64748B"/>
                </a:solidFill>
              </a:rPr>
              <a:t>Run Monte Carlo optimization over the 2-month forecast to simulate peak season trailer fleet adequacy.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Sprint 7-8: Pilot Deployment: </a:t>
            </a:r>
            <a:r>
              <a:rPr b="0" sz="1000">
                <a:solidFill>
                  <a:srgbClr val="64748B"/>
                </a:solidFill>
              </a:rPr>
              <a:t>Connect Cloud Run backend to live WMS/TMS APIs at pilot Distribution Center.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Executive Approval &amp; Next Steps</a:t>
            </a:r>
          </a:p>
          <a:p>
            <a:pPr>
              <a:spcAft>
                <a:spcPts val="1000"/>
              </a:spcAft>
              <a:defRPr b="1">
                <a:solidFill>
                  <a:srgbClr val="06B6D4"/>
                </a:solidFill>
              </a:defRPr>
            </a:pPr>
            <a:r>
              <a:t>✔  Phase 1 Funding Approval: </a:t>
            </a:r>
            <a:r>
              <a:rPr b="0" sz="1050">
                <a:solidFill>
                  <a:srgbClr val="CBD5E1"/>
                </a:solidFill>
              </a:rPr>
              <a:t>Approve budget for GCP infrastructure, mathematical solver licensing, and multi-agent development sprint.</a:t>
            </a:r>
          </a:p>
          <a:p>
            <a:pPr>
              <a:spcAft>
                <a:spcPts val="1000"/>
              </a:spcAft>
              <a:defRPr b="1">
                <a:solidFill>
                  <a:srgbClr val="06B6D4"/>
                </a:solidFill>
              </a:defRPr>
            </a:pPr>
            <a:r>
              <a:t>✔  Data Ingestion Access: </a:t>
            </a:r>
            <a:r>
              <a:rPr b="0" sz="1050">
                <a:solidFill>
                  <a:srgbClr val="CBD5E1"/>
                </a:solidFill>
              </a:rPr>
              <a:t>Provide secure GCS/BigQuery pipeline access for the 3-month historical and 2-month forecast order streams.</a:t>
            </a:r>
          </a:p>
          <a:p>
            <a:pPr>
              <a:spcAft>
                <a:spcPts val="1000"/>
              </a:spcAft>
              <a:defRPr b="1">
                <a:solidFill>
                  <a:srgbClr val="06B6D4"/>
                </a:solidFill>
              </a:defRPr>
            </a:pPr>
            <a:r>
              <a:t>✔  Dispatcher Stakeholder Alignment: </a:t>
            </a:r>
            <a:r>
              <a:rPr b="0" sz="1050">
                <a:solidFill>
                  <a:srgbClr val="CBD5E1"/>
                </a:solidFill>
              </a:rPr>
              <a:t>Assign lead dispatchers to participate in HITL UX design and live MVP validation.</a:t>
            </a:r>
          </a:p>
          <a:p>
            <a:pPr>
              <a:spcAft>
                <a:spcPts val="1000"/>
              </a:spcAft>
              <a:defRPr b="1">
                <a:solidFill>
                  <a:srgbClr val="06B6D4"/>
                </a:solidFill>
              </a:defRPr>
            </a:pPr>
            <a:r>
              <a:t>✔  Next Step: Live Interactive MVP: </a:t>
            </a:r>
            <a:r>
              <a:rPr b="0" sz="1050">
                <a:solidFill>
                  <a:srgbClr val="CBD5E1"/>
                </a:solidFill>
              </a:rPr>
              <a:t>Proceed immediately to construct the interactive MVP demonstrator for real-time executive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