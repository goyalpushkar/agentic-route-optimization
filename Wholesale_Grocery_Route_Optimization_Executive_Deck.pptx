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6B6D4"/>
                </a:solidFill>
              </a:defRPr>
            </a:pPr>
            <a:r>
              <a:t>NEXT-GEN AI INTELLIGENCE LAYER FOR MANHATTAN TMS &amp; MANUGISTICS</a:t>
            </a:r>
          </a:p>
          <a:p>
            <a:pPr>
              <a:spcAft>
                <a:spcPts val="2000"/>
              </a:spcAft>
              <a:defRPr sz="3200" b="1">
                <a:solidFill>
                  <a:srgbClr val="FFFFFF"/>
                </a:solidFill>
              </a:defRPr>
            </a:pPr>
            <a:r>
              <a:t>Autonomous Multi-Temperature Routing &amp;</a:t>
            </a:r>
            <a:br/>
            <a:r>
              <a:t>Live Carrier Booking Engine</a:t>
            </a:r>
          </a:p>
          <a:p>
            <a:pPr>
              <a:spcAft>
                <a:spcPts val="3600"/>
              </a:spcAft>
              <a:defRPr sz="1400">
                <a:solidFill>
                  <a:srgbClr val="94A3B8"/>
                </a:solidFill>
              </a:defRPr>
            </a:pPr>
            <a:r>
              <a:t>Augmenting existing Manhattan TMS &amp; Manugistics systems with dynamic flexible bulkheads,</a:t>
            </a:r>
            <a:br/>
            <a:r>
              <a:t>sub-3s parallel spot rate procurement, &lt;300ms HITL stop re-sequencing, and wave lockout prevention.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5-10 Min Executive Pitch &amp; Project Funding Request | Wholesale Grocery Logistics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1. INDUSTRY RELEVANCE &amp; COMPETITIVE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Strategic Value: Enhancing Manhattan TMS &amp; Manugistics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89120"/>
              </a:tblGrid>
              <a:tr h="8077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Logistics Capability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Legacy Manhattan TMS / Manugistics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Our AI Autonomous Engine (Augmentation Layer)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F172A"/>
                          </a:solidFill>
                        </a:defRPr>
                      </a:pPr>
                      <a:r>
                        <a:t>Multi-Temp Bulkhead Optimization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64748B"/>
                          </a:solidFill>
                        </a:defRPr>
                      </a:pPr>
                      <a:r>
                        <a:t>❌  Fixed/static compartment definitions. Cannot dynamically shift movable bulkheads in 2-pallet increments per route.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F172A"/>
                          </a:solidFill>
                        </a:defRPr>
                      </a:pPr>
                      <a:r>
                        <a:t>✅  Dynamically optimizes movable bulkheads (Frozen/Chill/Ambient/HMBC) per route, boosting cube fill from 76% to 92%+.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F172A"/>
                          </a:solidFill>
                        </a:defRPr>
                      </a:pPr>
                      <a:r>
                        <a:t>Carrier Rate Discovery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64748B"/>
                          </a:solidFill>
                        </a:defRPr>
                      </a:pPr>
                      <a:r>
                        <a:t>❌  Relies on static contracted rate tables and sequential waterfall tendering.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F172A"/>
                          </a:solidFill>
                        </a:defRPr>
                      </a:pPr>
                      <a:r>
                        <a:t>✅  Parallel broadcast fetches live spot &amp; contracted rates across APIs in &lt;3s, scoring on 40/30/20/10 matrix.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F172A"/>
                          </a:solidFill>
                        </a:defRPr>
                      </a:pPr>
                      <a:r>
                        <a:t>WMS Wave Synchronization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64748B"/>
                          </a:solidFill>
                        </a:defRPr>
                      </a:pPr>
                      <a:r>
                        <a:t>❌  Wave picking scheduled by static batch time; risks dock congestion if carrier tender drops.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F172A"/>
                          </a:solidFill>
                        </a:defRPr>
                      </a:pPr>
                      <a:r>
                        <a:t>✅  Enforces time-lock: Carrier capacity is 100% locked BEFORE WMS picking waves are released.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F172A"/>
                          </a:solidFill>
                        </a:defRPr>
                      </a:pPr>
                      <a:r>
                        <a:t>Dispatcher Edit Recalculation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64748B"/>
                          </a:solidFill>
                        </a:defRPr>
                      </a:pPr>
                      <a:r>
                        <a:t>❌  Manual route changes require 30-60 min batch re-runs or break constraint visibility.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F172A"/>
                          </a:solidFill>
                        </a:defRPr>
                      </a:pPr>
                      <a:r>
                        <a:t>✅  In-memory Redis cache recalculates drag-and-drop stop edits, ETAs, and cost deltas in &lt;300ms.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F172A"/>
                          </a:solidFill>
                        </a:defRPr>
                      </a:pPr>
                      <a:r>
                        <a:t>Reasoning &amp; Exception Handling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64748B"/>
                          </a:solidFill>
                        </a:defRPr>
                      </a:pPr>
                      <a:r>
                        <a:t>❌  Throws hard errors on unassigned stops without trade-off explanations.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F172A"/>
                          </a:solidFill>
                        </a:defRPr>
                      </a:pPr>
                      <a:r>
                        <a:t>✅  Gemini 2.5 LLM Agents actively reason over constraint trade-offs, soft windows (±1hr), and generate natural language briefs.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3. AI TOOLS &amp; SYSTEM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6-Agent Ecosystem: From Order Sourcing to Booking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81328"/>
            <a:ext cx="3209544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Agent 1: DC Sourcing &amp; Profiler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• Selects optimal origin warehouse.</a:t>
            </a:r>
            <a:br/>
            <a:r>
              <a:t>• Converts SKU orders into 4D vectors (Pallet, Cube, Case, Catch-Weight).</a:t>
            </a:r>
            <a:br/>
            <a:r>
              <a:t>• Segregates into Frozen, Chill, Ambient, HMBC.</a:t>
            </a:r>
          </a:p>
          <a:p>
            <a:pPr>
              <a:defRPr sz="900" b="1">
                <a:solidFill>
                  <a:srgbClr val="06B6D4"/>
                </a:solidFill>
              </a:defRPr>
            </a:pPr>
            <a:r>
              <a:t>Tech: Vertex AI + BigQuery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53128" y="1481328"/>
            <a:ext cx="3209544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Agent 2: Fleet &amp; Dock Allocator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• Catalogs 46W, 48W, 53W trailer capacities.</a:t>
            </a:r>
            <a:br/>
            <a:r>
              <a:t>• Enforces 2-pallet bulkhead step rules.</a:t>
            </a:r>
            <a:br/>
            <a:r>
              <a:t>• Matches retail dock length &amp; liftgate restrictions.</a:t>
            </a:r>
          </a:p>
          <a:p>
            <a:pPr>
              <a:defRPr sz="900" b="1">
                <a:solidFill>
                  <a:srgbClr val="06B6D4"/>
                </a:solidFill>
              </a:defRPr>
            </a:pPr>
            <a:r>
              <a:t>Tech: Fleet Master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65008" y="1481328"/>
            <a:ext cx="3209544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Agent 3: Cold-Chain Route Optimizer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• Solves MC-VRPTW with soft ±1hr windows.</a:t>
            </a:r>
            <a:br/>
            <a:r>
              <a:t>• Enforces priority: OTIF &gt; Overtime &gt; Miles &gt; Fleet.</a:t>
            </a:r>
            <a:br/>
            <a:r>
              <a:t>• Enforces reverse-drop LIFO loading sequence.</a:t>
            </a:r>
          </a:p>
          <a:p>
            <a:pPr>
              <a:defRPr sz="900" b="1">
                <a:solidFill>
                  <a:srgbClr val="06B6D4"/>
                </a:solidFill>
              </a:defRPr>
            </a:pPr>
            <a:r>
              <a:t>Tech: Cloud Optimization API / OR-Tools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950208"/>
            <a:ext cx="3209544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Agent 4: Live Rate Aggregator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• Broadcasts route specs to carrier APIs in parallel.</a:t>
            </a:r>
            <a:br/>
            <a:r>
              <a:t>• Fetches live spot &amp; contracted rates in &lt;3s.</a:t>
            </a:r>
            <a:br/>
            <a:r>
              <a:t>• Verifies real-time carrier equipment availability.</a:t>
            </a:r>
          </a:p>
          <a:p>
            <a:pPr>
              <a:defRPr sz="900" b="1">
                <a:solidFill>
                  <a:srgbClr val="06B6D4"/>
                </a:solidFill>
              </a:defRPr>
            </a:pPr>
            <a:r>
              <a:t>Tech: Cloud Pub/Sub + Cloud Functions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84048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3950208"/>
            <a:ext cx="3209544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Agent 5: Carrier Scoring &amp; Booking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• Evaluates bids via 40/30/20/10 decision matrix.</a:t>
            </a:r>
            <a:br/>
            <a:r>
              <a:t>• Locks carrier booking via EDI 204/API.</a:t>
            </a:r>
            <a:br/>
            <a:r>
              <a:t>• Signals WMS wave release ONLY after booking lock.</a:t>
            </a:r>
          </a:p>
          <a:p>
            <a:pPr>
              <a:defRPr sz="900" b="1">
                <a:solidFill>
                  <a:srgbClr val="06B6D4"/>
                </a:solidFill>
              </a:defRPr>
            </a:pPr>
            <a:r>
              <a:t>Tech: BigQuery Scorecard + EDI Gateway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84048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950208"/>
            <a:ext cx="3209544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Agent 6: Dynamic Cold-Chain Monitor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• Continuously monitors IoT reefer temps &amp; GPS.</a:t>
            </a:r>
            <a:br/>
            <a:r>
              <a:t>• Alerts dispatchers on delays against 30-min dock baseline.</a:t>
            </a:r>
            <a:br/>
            <a:r>
              <a:t>• Triggers dynamic recovery re-routes.</a:t>
            </a:r>
          </a:p>
          <a:p>
            <a:pPr>
              <a:defRPr sz="900" b="1">
                <a:solidFill>
                  <a:srgbClr val="06B6D4"/>
                </a:solidFill>
              </a:defRPr>
            </a:pPr>
            <a:r>
              <a:t>Tech: IoT Telematics + Maps 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2. METHODOLOGY &amp; SOURCING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Automated Carrier Sourcing &amp; WMS Wave-Picking Lock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468880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63040"/>
            <a:ext cx="224942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06B6D4"/>
                </a:solidFill>
              </a:defRPr>
            </a:pPr>
            <a:r>
              <a:t>40%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Live Freight Rate</a:t>
            </a:r>
          </a:p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t>Sub-3s Spot Discovery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Compares real-time spot rates against contracted baselines to capture instant market savings.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468880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84448" y="1463040"/>
            <a:ext cx="224942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06B6D4"/>
                </a:solidFill>
              </a:defRPr>
            </a:pPr>
            <a:r>
              <a:t>30%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Carrier Reliability</a:t>
            </a:r>
          </a:p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t>Trailing 3-Month Performance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BigQuery scorecard: 60% On-Time Pickup Rate + 40% Tender Acceptance Rate.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2468880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7648" y="1463040"/>
            <a:ext cx="224942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06B6D4"/>
                </a:solidFill>
              </a:defRPr>
            </a:pPr>
            <a:r>
              <a:t>20%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Cold-Chain SLA Fit</a:t>
            </a:r>
          </a:p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t>Reefer Spec &amp; Temp Logs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Validates FSMA compliance, continuous IoT temp logs, pre-cooling, and reefer age (&lt;5 yrs).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371600"/>
            <a:ext cx="2468880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70848" y="1463040"/>
            <a:ext cx="224942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06B6D4"/>
                </a:solidFill>
              </a:defRPr>
            </a:pPr>
            <a:r>
              <a:t>10%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Preferred Status</a:t>
            </a:r>
          </a:p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t>Strategic Partnerships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Incentivizes trusted Tier-1 contracted fleet partners to preserve relationship equity.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89120"/>
            <a:ext cx="10698480" cy="182880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805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🔒 Wave Lockout Elimination: Zero Wasted Picker Labor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In traditional Manhattan WMS setups, wave picking starts by clock time. If a carrier rejects the load, picked perishable pallets sit on staging docks. Our system enforces an automated time-lock: Carrier tender is booked and confirmed FIRST. Only then does the WMS receive the release signal, eliminating dock congestion and perishable spoilage.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4. PRESENTATION &amp; INTERACTIVE 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Human-in-the-Loop (HITL) Dispatcher Cockpit &amp; Controls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305409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Interactive Map &amp; Drag-Drop</a:t>
            </a:r>
          </a:p>
          <a:p>
            <a:pPr>
              <a:spcAft>
                <a:spcPts val="1400"/>
              </a:spcAft>
              <a:defRPr sz="1050">
                <a:solidFill>
                  <a:srgbClr val="64748B"/>
                </a:solidFill>
              </a:defRPr>
            </a:pPr>
            <a:r>
              <a:t>• Live Google Maps/Deck.gl visualization of 46W/48W/53W routes.</a:t>
            </a:r>
            <a:br/>
            <a:r>
              <a:t>• Dispatchers drag &amp; drop stops between trailers.</a:t>
            </a:r>
            <a:br/>
            <a:r>
              <a:t>• In-memory Redis cache recalculates arrival ETAs, soft-window violations (±1hr), and cost deltas in &lt;300ms.</a:t>
            </a:r>
          </a:p>
          <a:p>
            <a:pPr>
              <a:defRPr sz="1000" b="1">
                <a:solidFill>
                  <a:srgbClr val="06B6D4"/>
                </a:solidFill>
              </a:defRPr>
            </a:pPr>
            <a:r>
              <a:t>Stack: Mapbox / Deck.gl + Redis Cache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6552" y="137160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554480"/>
            <a:ext cx="305409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2D Trailer Bulkhead Visualizer</a:t>
            </a:r>
          </a:p>
          <a:p>
            <a:pPr>
              <a:spcAft>
                <a:spcPts val="1400"/>
              </a:spcAft>
              <a:defRPr sz="1050">
                <a:solidFill>
                  <a:srgbClr val="64748B"/>
                </a:solidFill>
              </a:defRPr>
            </a:pPr>
            <a:r>
              <a:t>• Top-down cross-section of 22 to 30 pallet floor spots.</a:t>
            </a:r>
            <a:br/>
            <a:r>
              <a:t>• Interactive slider adjusts Frozen, Chill, and Ambient bulkheads in 2-pallet increments.</a:t>
            </a:r>
            <a:br/>
            <a:r>
              <a:t>• LIFO rule warns if early stops are blocked by late-drop pallets.</a:t>
            </a:r>
          </a:p>
          <a:p>
            <a:pPr>
              <a:defRPr sz="1000" b="1">
                <a:solidFill>
                  <a:srgbClr val="06B6D4"/>
                </a:solidFill>
              </a:defRPr>
            </a:pPr>
            <a:r>
              <a:t>Stack: React Canvas + Tailwind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4" y="137160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38744" y="1554480"/>
            <a:ext cx="305409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Two-Stage Approval Gateways</a:t>
            </a:r>
          </a:p>
          <a:p>
            <a:pPr>
              <a:spcAft>
                <a:spcPts val="1400"/>
              </a:spcAft>
              <a:defRPr sz="1050">
                <a:solidFill>
                  <a:srgbClr val="64748B"/>
                </a:solidFill>
              </a:defRPr>
            </a:pPr>
            <a:r>
              <a:t>• Gate 1: Route Review &amp; Manual Modification (One-click approval advances to carrier RFQ).</a:t>
            </a:r>
            <a:br/>
            <a:r>
              <a:t>• Gate 2: Carrier Tender Review (Dispatcher approves top 40/30/20/10 AI carrier or manual override before WMS release).</a:t>
            </a:r>
          </a:p>
          <a:p>
            <a:pPr>
              <a:defRPr sz="1000" b="1">
                <a:solidFill>
                  <a:srgbClr val="06B6D4"/>
                </a:solidFill>
              </a:defRPr>
            </a:pPr>
            <a:r>
              <a:t>Stack: FastAPI + WebSockets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3. AI TOOLS &amp; GCP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GCP Cloud-Native Architecture &amp; Enterprise Integration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926080"/>
                <a:gridCol w="5394960"/>
              </a:tblGrid>
              <a:tr h="692331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GCP Component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Architectural Role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Logistics Capability &amp; Purpose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Vertex AI (Gemini 2.5)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Agent Reasoning &amp; NL Briefings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Powers Agent decision explanations, exception handling, and dispatcher copilot dialogues.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Cloud Optimization API / OR-Tools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Mathematical Solver Engine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High-performance solver computing Multi-Compartment VRP with flexible bulkheads &amp; soft windows.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BigQuery Lakehouse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Historical &amp; Forecast Data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Stores 3mo historical actuals, 2mo probabilistic demand models, and carrier scorecards (OTP/OTD).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Cloud Run &amp; LangGraph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Microservices &amp; Agent Runtime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Hosts the scalable agent state machine, FastAPI backend, and Next.js dispatcher UI.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Cloud Pub/Sub &amp; Cloud Functions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Parallel Rate Procurement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Broadcasts parallel quote requests to dozens of carrier APIs asynchronously in &lt;3 seconds.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Cloud Firestore &amp; Redis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Low-Latency Live State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Sub-second state machine for live drag-and-drop route recalculations (&lt;300ms) and collaborative editing.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2. METHODOLOGY &amp; ROI JUSTIFICATION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Quantified ROI &amp; 16-Week Implementation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468880" cy="15544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10B981"/>
                </a:solidFill>
              </a:defRPr>
            </a:pPr>
            <a:r>
              <a:t>$1.8M - $2.4M</a:t>
            </a:r>
          </a:p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</a:defRPr>
            </a:pPr>
            <a:r>
              <a:t>Annual Net Savings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Fleet, fuel, and spot freight optimization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468880" cy="15544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4173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10B981"/>
                </a:solidFill>
              </a:defRPr>
            </a:pPr>
            <a:r>
              <a:t>16.2%</a:t>
            </a:r>
          </a:p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</a:defRPr>
            </a:pPr>
            <a:r>
              <a:t>Mileage &amp; Fuel Cut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Consolidated single-drop multi-temp routing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2468880" cy="15544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4173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10B981"/>
                </a:solidFill>
              </a:defRPr>
            </a:pPr>
            <a:r>
              <a:t>14.5%</a:t>
            </a:r>
          </a:p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</a:defRPr>
            </a:pPr>
            <a:r>
              <a:t>Trailer Fill Increase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Cube utilization up from 76% to 91%+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371600"/>
            <a:ext cx="2468880" cy="15544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4173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10B981"/>
                </a:solidFill>
              </a:defRPr>
            </a:pPr>
            <a:r>
              <a:t>&lt; 5 Months</a:t>
            </a:r>
          </a:p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</a:defRPr>
            </a:pPr>
            <a:r>
              <a:t>Payback Period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Rapid time-to-value on existing GCP &amp; TMS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08960"/>
            <a:ext cx="246888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00400"/>
            <a:ext cx="2249424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Phase 1: Foundation</a:t>
            </a:r>
          </a:p>
          <a:p>
            <a:pPr>
              <a:spcAft>
                <a:spcPts val="600"/>
              </a:spcAft>
              <a:defRPr sz="1050" b="1">
                <a:solidFill>
                  <a:srgbClr val="06B6D4"/>
                </a:solidFill>
              </a:defRPr>
            </a:pPr>
            <a:r>
              <a:t>Weeks 1 - 4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BigQuery order &amp; fleet schemas.</a:t>
            </a:r>
            <a:br/>
            <a:r>
              <a:t>• OR-Tools MC-VRPTW solver with 2-pallet bulkhead logic.</a:t>
            </a:r>
            <a:br/>
            <a:r>
              <a:t>• Integration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3108960"/>
            <a:ext cx="246888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3200400"/>
            <a:ext cx="2249424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Phase 2: Agent Core</a:t>
            </a:r>
          </a:p>
          <a:p>
            <a:pPr>
              <a:spcAft>
                <a:spcPts val="600"/>
              </a:spcAft>
              <a:defRPr sz="1050" b="1">
                <a:solidFill>
                  <a:srgbClr val="06B6D4"/>
                </a:solidFill>
              </a:defRPr>
            </a:pPr>
            <a:r>
              <a:t>Weeks 5 - 8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LangGraph 6-agent core on Cloud Run.</a:t>
            </a:r>
            <a:br/>
            <a:r>
              <a:t>• Pub/Sub parallel rate aggregator.</a:t>
            </a:r>
            <a:br/>
            <a:r>
              <a:t>• 40/30/20/10 carrier scoring engine.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108960"/>
            <a:ext cx="246888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200400"/>
            <a:ext cx="2249424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Phase 3: Dispatcher UI</a:t>
            </a:r>
          </a:p>
          <a:p>
            <a:pPr>
              <a:spcAft>
                <a:spcPts val="600"/>
              </a:spcAft>
              <a:defRPr sz="1050" b="1">
                <a:solidFill>
                  <a:srgbClr val="06B6D4"/>
                </a:solidFill>
              </a:defRPr>
            </a:pPr>
            <a:r>
              <a:t>Weeks 9 - 12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Next.js map with drag-and-drop.</a:t>
            </a:r>
            <a:br/>
            <a:r>
              <a:t>• 2D trailer bulkhead visualizer.</a:t>
            </a:r>
            <a:br/>
            <a:r>
              <a:t>• Two-stage approval state machine.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3108960"/>
            <a:ext cx="246888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3200400"/>
            <a:ext cx="2249424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Phase 4: Pilot &amp; Scale</a:t>
            </a:r>
          </a:p>
          <a:p>
            <a:pPr>
              <a:spcAft>
                <a:spcPts val="600"/>
              </a:spcAft>
              <a:defRPr sz="1050" b="1">
                <a:solidFill>
                  <a:srgbClr val="06B6D4"/>
                </a:solidFill>
              </a:defRPr>
            </a:pPr>
            <a:r>
              <a:t>Weeks 13 - 16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3-month historical backtesting.</a:t>
            </a:r>
            <a:br/>
            <a:r>
              <a:t>• Shadow runs vs legacy Manhattan TMS.</a:t>
            </a:r>
            <a:br/>
            <a:r>
              <a:t>• Live pilot across 2 regional DCs.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4. EXECUTIVE APPROVAL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Executive Decision &amp; Next Steps: Live MVP Demonstration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Why Approve This Development Now?</a:t>
            </a:r>
          </a:p>
          <a:p>
            <a:pPr>
              <a:spcAft>
                <a:spcPts val="800"/>
              </a:spcAft>
              <a:defRPr b="1" sz="1050">
                <a:solidFill>
                  <a:srgbClr val="0F172A"/>
                </a:solidFill>
              </a:defRPr>
            </a:pPr>
            <a:r>
              <a:t>• Protects Existing Manhattan / Manugistics Investment: </a:t>
            </a:r>
            <a:r>
              <a:rPr b="0" sz="1000">
                <a:solidFill>
                  <a:srgbClr val="64748B"/>
                </a:solidFill>
              </a:rPr>
              <a:t>No rip-and-replace: Acts as an intelligent cloud-native optimization overlay that supercharges existing TMS/WMS workflows.</a:t>
            </a:r>
          </a:p>
          <a:p>
            <a:pPr>
              <a:spcAft>
                <a:spcPts val="800"/>
              </a:spcAft>
              <a:defRPr b="1" sz="1050">
                <a:solidFill>
                  <a:srgbClr val="0F172A"/>
                </a:solidFill>
              </a:defRPr>
            </a:pPr>
            <a:r>
              <a:t>• Immediate Bottom-Line Impact: </a:t>
            </a:r>
            <a:r>
              <a:rPr b="0" sz="1000">
                <a:solidFill>
                  <a:srgbClr val="64748B"/>
                </a:solidFill>
              </a:rPr>
              <a:t>14.5% cube utilization gain and 16.2% fuel reduction yields $1.8M–$2.4M in annual logistics margin recovery.</a:t>
            </a:r>
          </a:p>
          <a:p>
            <a:pPr>
              <a:spcAft>
                <a:spcPts val="800"/>
              </a:spcAft>
              <a:defRPr b="1" sz="1050">
                <a:solidFill>
                  <a:srgbClr val="0F172A"/>
                </a:solidFill>
              </a:defRPr>
            </a:pPr>
            <a:r>
              <a:t>• De-risked via Historical Backtesting: </a:t>
            </a:r>
            <a:r>
              <a:rPr b="0" sz="1000">
                <a:solidFill>
                  <a:srgbClr val="64748B"/>
                </a:solidFill>
              </a:rPr>
              <a:t>Validates savings empirically on our 3-month historical order dataset before touching live production.</a:t>
            </a:r>
          </a:p>
          <a:p>
            <a:pPr>
              <a:spcAft>
                <a:spcPts val="800"/>
              </a:spcAft>
              <a:defRPr b="1" sz="1050">
                <a:solidFill>
                  <a:srgbClr val="0F172A"/>
                </a:solidFill>
              </a:defRPr>
            </a:pPr>
            <a:r>
              <a:t>• Human-in-the-Loop Safeguards: </a:t>
            </a:r>
            <a:r>
              <a:rPr b="0" sz="1000">
                <a:solidFill>
                  <a:srgbClr val="64748B"/>
                </a:solidFill>
              </a:rPr>
              <a:t>Dispatchers maintain full control with drag-and-drop override and 2-stage approval gateways.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FFFFF"/>
                </a:solidFill>
              </a:defRPr>
            </a:pPr>
            <a:r>
              <a:t>Executive Approval &amp; Next Immediate Action</a:t>
            </a:r>
          </a:p>
          <a:p>
            <a:pPr>
              <a:spcAft>
                <a:spcPts val="1000"/>
              </a:spcAft>
              <a:defRPr b="1">
                <a:solidFill>
                  <a:srgbClr val="06B6D4"/>
                </a:solidFill>
              </a:defRPr>
            </a:pPr>
            <a:r>
              <a:t>✔  Phase 1 Sponsoring &amp; Approval: </a:t>
            </a:r>
            <a:r>
              <a:rPr b="0" sz="1050">
                <a:solidFill>
                  <a:srgbClr val="CBD5E1"/>
                </a:solidFill>
              </a:rPr>
              <a:t>Approve project kickoff for the 16-week phased delivery.</a:t>
            </a:r>
          </a:p>
          <a:p>
            <a:pPr>
              <a:spcAft>
                <a:spcPts val="1000"/>
              </a:spcAft>
              <a:defRPr b="1">
                <a:solidFill>
                  <a:srgbClr val="06B6D4"/>
                </a:solidFill>
              </a:defRPr>
            </a:pPr>
            <a:r>
              <a:t>✔  Data Pipeline Access: </a:t>
            </a:r>
            <a:r>
              <a:rPr b="0" sz="1050">
                <a:solidFill>
                  <a:srgbClr val="CBD5E1"/>
                </a:solidFill>
              </a:rPr>
              <a:t>Grant secure BigQuery/GCS read access for the 3-month historical and 2-month forecast order sets.</a:t>
            </a:r>
          </a:p>
          <a:p>
            <a:pPr>
              <a:spcAft>
                <a:spcPts val="1000"/>
              </a:spcAft>
              <a:defRPr b="1">
                <a:solidFill>
                  <a:srgbClr val="06B6D4"/>
                </a:solidFill>
              </a:defRPr>
            </a:pPr>
            <a:r>
              <a:t>✔  Dispatcher Stakeholder Review: </a:t>
            </a:r>
            <a:r>
              <a:rPr b="0" sz="1050">
                <a:solidFill>
                  <a:srgbClr val="CBD5E1"/>
                </a:solidFill>
              </a:rPr>
              <a:t>Engage lead DC dispatchers for HITL cockpit validation.</a:t>
            </a:r>
          </a:p>
          <a:p>
            <a:pPr>
              <a:spcAft>
                <a:spcPts val="1000"/>
              </a:spcAft>
              <a:defRPr b="1">
                <a:solidFill>
                  <a:srgbClr val="06B6D4"/>
                </a:solidFill>
              </a:defRPr>
            </a:pPr>
            <a:r>
              <a:t>✔  Next Step: Live Interactive MVP Demo: </a:t>
            </a:r>
            <a:r>
              <a:rPr b="0" sz="1050">
                <a:solidFill>
                  <a:srgbClr val="CBD5E1"/>
                </a:solidFill>
              </a:rPr>
              <a:t>Proceed to showcase the live interactive MVP sandbox demonstrating real-time drag-and-drop routing and carrier scoring.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